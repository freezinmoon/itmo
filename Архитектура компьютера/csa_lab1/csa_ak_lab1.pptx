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Robot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bold.fntdata"/><Relationship Id="rId16" Type="http://schemas.openxmlformats.org/officeDocument/2006/relationships/font" Target="fonts/Roboto-regular.fntdata"/><Relationship Id="rId5" Type="http://schemas.openxmlformats.org/officeDocument/2006/relationships/notesMaster" Target="notesMasters/notesMaster1.xml"/><Relationship Id="rId19" Type="http://schemas.openxmlformats.org/officeDocument/2006/relationships/font" Target="fonts/Roboto-boldItalic.fntdata"/><Relationship Id="rId6" Type="http://schemas.openxmlformats.org/officeDocument/2006/relationships/slide" Target="slides/slide1.xml"/><Relationship Id="rId18"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c6f73a04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c6f73a04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c6f73a04f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c6f73a04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c6f73a04f_0_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c6f73a04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c6f73a04f_0_1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c6f73a04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c6f73a04f_0_2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c6f73a04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db8ffd832b_0_1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db8ffd832b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db8ffd832b_0_3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db8ffd832b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c6f73a04f_0_3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c6f73a04f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c6f73a04f_0_3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c6f73a04f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c6f73a04f_0_4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c6f73a04f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1600"/>
              </a:spcBef>
              <a:spcAft>
                <a:spcPts val="0"/>
              </a:spcAft>
              <a:buClr>
                <a:schemeClr val="lt1"/>
              </a:buClr>
              <a:buSzPts val="1200"/>
              <a:buChar char="○"/>
              <a:defRPr sz="1200">
                <a:solidFill>
                  <a:schemeClr val="lt1"/>
                </a:solidFill>
              </a:defRPr>
            </a:lvl2pPr>
            <a:lvl3pPr indent="-304800" lvl="2" marL="1371600">
              <a:spcBef>
                <a:spcPts val="1600"/>
              </a:spcBef>
              <a:spcAft>
                <a:spcPts val="0"/>
              </a:spcAft>
              <a:buClr>
                <a:schemeClr val="lt1"/>
              </a:buClr>
              <a:buSzPts val="1200"/>
              <a:buChar char="■"/>
              <a:defRPr sz="1200">
                <a:solidFill>
                  <a:schemeClr val="lt1"/>
                </a:solidFill>
              </a:defRPr>
            </a:lvl3pPr>
            <a:lvl4pPr indent="-304800" lvl="3" marL="1828800">
              <a:spcBef>
                <a:spcPts val="1600"/>
              </a:spcBef>
              <a:spcAft>
                <a:spcPts val="0"/>
              </a:spcAft>
              <a:buClr>
                <a:schemeClr val="lt1"/>
              </a:buClr>
              <a:buSzPts val="1200"/>
              <a:buChar char="●"/>
              <a:defRPr sz="1200">
                <a:solidFill>
                  <a:schemeClr val="lt1"/>
                </a:solidFill>
              </a:defRPr>
            </a:lvl4pPr>
            <a:lvl5pPr indent="-304800" lvl="4" marL="2286000">
              <a:spcBef>
                <a:spcPts val="1600"/>
              </a:spcBef>
              <a:spcAft>
                <a:spcPts val="0"/>
              </a:spcAft>
              <a:buClr>
                <a:schemeClr val="lt1"/>
              </a:buClr>
              <a:buSzPts val="1200"/>
              <a:buChar char="○"/>
              <a:defRPr sz="1200">
                <a:solidFill>
                  <a:schemeClr val="lt1"/>
                </a:solidFill>
              </a:defRPr>
            </a:lvl5pPr>
            <a:lvl6pPr indent="-304800" lvl="5" marL="2743200">
              <a:spcBef>
                <a:spcPts val="1600"/>
              </a:spcBef>
              <a:spcAft>
                <a:spcPts val="0"/>
              </a:spcAft>
              <a:buClr>
                <a:schemeClr val="lt1"/>
              </a:buClr>
              <a:buSzPts val="1200"/>
              <a:buChar char="■"/>
              <a:defRPr sz="1200">
                <a:solidFill>
                  <a:schemeClr val="lt1"/>
                </a:solidFill>
              </a:defRPr>
            </a:lvl6pPr>
            <a:lvl7pPr indent="-304800" lvl="6" marL="3200400">
              <a:spcBef>
                <a:spcPts val="1600"/>
              </a:spcBef>
              <a:spcAft>
                <a:spcPts val="0"/>
              </a:spcAft>
              <a:buClr>
                <a:schemeClr val="lt1"/>
              </a:buClr>
              <a:buSzPts val="1200"/>
              <a:buChar char="●"/>
              <a:defRPr sz="1200">
                <a:solidFill>
                  <a:schemeClr val="lt1"/>
                </a:solidFill>
              </a:defRPr>
            </a:lvl7pPr>
            <a:lvl8pPr indent="-304800" lvl="7" marL="3657600">
              <a:spcBef>
                <a:spcPts val="1600"/>
              </a:spcBef>
              <a:spcAft>
                <a:spcPts val="0"/>
              </a:spcAft>
              <a:buClr>
                <a:schemeClr val="lt1"/>
              </a:buClr>
              <a:buSzPts val="1200"/>
              <a:buChar char="○"/>
              <a:defRPr sz="1200">
                <a:solidFill>
                  <a:schemeClr val="lt1"/>
                </a:solidFill>
              </a:defRPr>
            </a:lvl8pPr>
            <a:lvl9pPr indent="-304800" lvl="8" marL="4114800">
              <a:spcBef>
                <a:spcPts val="1600"/>
              </a:spcBef>
              <a:spcAft>
                <a:spcPts val="160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3.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hyperlink" Target="https://meltdownattack.com/" TargetMode="External"/><Relationship Id="rId4" Type="http://schemas.openxmlformats.org/officeDocument/2006/relationships/hyperlink" Target="https://spectreattack.com/" TargetMode="External"/><Relationship Id="rId5" Type="http://schemas.openxmlformats.org/officeDocument/2006/relationships/hyperlink" Target="https://www.intel.com/content/www/us/en/security-center/advisory/intel-sa-00088.html" TargetMode="External"/><Relationship Id="rId6" Type="http://schemas.openxmlformats.org/officeDocument/2006/relationships/hyperlink" Target="https://www.kernel.org/doc/html/latest/admin-guide/hw-vuln/spectre.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200"/>
              <a:t>Уязвимости Spectre и Meltdown</a:t>
            </a:r>
            <a:endParaRPr sz="4200"/>
          </a:p>
        </p:txBody>
      </p:sp>
      <p:sp>
        <p:nvSpPr>
          <p:cNvPr id="68" name="Google Shape;68;p13"/>
          <p:cNvSpPr txBox="1"/>
          <p:nvPr>
            <p:ph idx="1" type="subTitle"/>
          </p:nvPr>
        </p:nvSpPr>
        <p:spPr>
          <a:xfrm>
            <a:off x="390525" y="2789130"/>
            <a:ext cx="8222100" cy="43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методы защиты и влияние на производительность</a:t>
            </a:r>
            <a:endParaRPr sz="2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pic>
        <p:nvPicPr>
          <p:cNvPr id="73" name="Google Shape;73;p14"/>
          <p:cNvPicPr preferRelativeResize="0"/>
          <p:nvPr/>
        </p:nvPicPr>
        <p:blipFill>
          <a:blip r:embed="rId3">
            <a:alphaModFix/>
          </a:blip>
          <a:stretch>
            <a:fillRect/>
          </a:stretch>
        </p:blipFill>
        <p:spPr>
          <a:xfrm>
            <a:off x="1333475" y="1069175"/>
            <a:ext cx="6336925" cy="3406950"/>
          </a:xfrm>
          <a:prstGeom prst="rect">
            <a:avLst/>
          </a:prstGeom>
          <a:noFill/>
          <a:ln>
            <a:noFill/>
          </a:ln>
        </p:spPr>
      </p:pic>
      <p:sp>
        <p:nvSpPr>
          <p:cNvPr id="74" name="Google Shape;74;p14"/>
          <p:cNvSpPr txBox="1"/>
          <p:nvPr/>
        </p:nvSpPr>
        <p:spPr>
          <a:xfrm>
            <a:off x="1429125" y="330325"/>
            <a:ext cx="3882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Roboto"/>
                <a:ea typeface="Roboto"/>
                <a:cs typeface="Roboto"/>
                <a:sym typeface="Roboto"/>
              </a:rPr>
              <a:t>1 июня 2017 года</a:t>
            </a:r>
            <a:endParaRPr sz="1800">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id="79" name="Google Shape;79;p15"/>
          <p:cNvPicPr preferRelativeResize="0"/>
          <p:nvPr/>
        </p:nvPicPr>
        <p:blipFill>
          <a:blip r:embed="rId3">
            <a:alphaModFix/>
          </a:blip>
          <a:stretch>
            <a:fillRect/>
          </a:stretch>
        </p:blipFill>
        <p:spPr>
          <a:xfrm>
            <a:off x="3308587" y="219800"/>
            <a:ext cx="2526826" cy="1254201"/>
          </a:xfrm>
          <a:prstGeom prst="rect">
            <a:avLst/>
          </a:prstGeom>
          <a:noFill/>
          <a:ln>
            <a:noFill/>
          </a:ln>
        </p:spPr>
      </p:pic>
      <p:sp>
        <p:nvSpPr>
          <p:cNvPr id="80" name="Google Shape;80;p15"/>
          <p:cNvSpPr txBox="1"/>
          <p:nvPr/>
        </p:nvSpPr>
        <p:spPr>
          <a:xfrm>
            <a:off x="143200" y="1979925"/>
            <a:ext cx="3235800" cy="300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Out-of-Order execution</a:t>
            </a:r>
            <a:endParaRPr sz="1800">
              <a:solidFill>
                <a:schemeClr val="dk1"/>
              </a:solidFill>
              <a:latin typeface="Roboto"/>
              <a:ea typeface="Roboto"/>
              <a:cs typeface="Roboto"/>
              <a:sym typeface="Roboto"/>
            </a:endParaRPr>
          </a:p>
          <a:p>
            <a:pPr indent="0" lvl="0" marL="0" rtl="0" algn="l">
              <a:spcBef>
                <a:spcPts val="0"/>
              </a:spcBef>
              <a:spcAft>
                <a:spcPts val="0"/>
              </a:spcAft>
              <a:buNone/>
            </a:pPr>
            <a:r>
              <a:rPr lang="en" sz="1100">
                <a:solidFill>
                  <a:srgbClr val="202122"/>
                </a:solidFill>
                <a:latin typeface="Roboto"/>
                <a:ea typeface="Roboto"/>
                <a:cs typeface="Roboto"/>
                <a:sym typeface="Roboto"/>
              </a:rPr>
              <a:t>это парадигма, используемая в высокопроизводительных центральных процессорах для использования циклов выполнения инструкций, которые в противном случае были бы потрачены впустую. В этой парадигме процессор выполняет инструкции в порядке, определяемом доступностью входных данных и блоков исполнения, а не их изначальным порядком в программе. При этом процессор может избежать простоя в ожидании завершения предыдущей инструкции и тем временем обрабатывать следующие инструкции, которые могут выполняться немедленно и независимо.</a:t>
            </a:r>
            <a:endParaRPr sz="1100">
              <a:solidFill>
                <a:srgbClr val="202122"/>
              </a:solidFill>
              <a:latin typeface="Roboto"/>
              <a:ea typeface="Roboto"/>
              <a:cs typeface="Roboto"/>
              <a:sym typeface="Roboto"/>
            </a:endParaRPr>
          </a:p>
        </p:txBody>
      </p:sp>
      <p:sp>
        <p:nvSpPr>
          <p:cNvPr id="81" name="Google Shape;81;p15"/>
          <p:cNvSpPr txBox="1"/>
          <p:nvPr/>
        </p:nvSpPr>
        <p:spPr>
          <a:xfrm>
            <a:off x="5703000" y="1979925"/>
            <a:ext cx="3202200" cy="2847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1"/>
                </a:solidFill>
                <a:latin typeface="Roboto"/>
                <a:ea typeface="Roboto"/>
                <a:cs typeface="Roboto"/>
                <a:sym typeface="Roboto"/>
              </a:rPr>
              <a:t>Спекулятивное выполнение</a:t>
            </a:r>
            <a:endParaRPr sz="1700">
              <a:solidFill>
                <a:schemeClr val="dk1"/>
              </a:solidFill>
              <a:latin typeface="Roboto"/>
              <a:ea typeface="Roboto"/>
              <a:cs typeface="Roboto"/>
              <a:sym typeface="Roboto"/>
            </a:endParaRPr>
          </a:p>
          <a:p>
            <a:pPr indent="0" lvl="0" marL="0" rtl="0" algn="l">
              <a:spcBef>
                <a:spcPts val="0"/>
              </a:spcBef>
              <a:spcAft>
                <a:spcPts val="0"/>
              </a:spcAft>
              <a:buNone/>
            </a:pPr>
            <a:r>
              <a:rPr lang="en" sz="1200">
                <a:solidFill>
                  <a:srgbClr val="202122"/>
                </a:solidFill>
                <a:latin typeface="Roboto"/>
                <a:ea typeface="Roboto"/>
                <a:cs typeface="Roboto"/>
                <a:sym typeface="Roboto"/>
              </a:rPr>
              <a:t>это техника оптимизации, при которой компьютерная система выполняет некоторую задачу, которая может быть не нужна. Работа выполняется до того, как станет известно, нужна ли она на самом деле, чтобы предотвратить задержку, которую пришлось бы понести при выполнении работы после того, как стало известно, что она нужна. Если выясняется, что работа все-таки не нужна, большинство изменений, внесенных в результате ее выполнения, отменяются, а результаты игнорируются.</a:t>
            </a:r>
            <a:endParaRPr sz="1200">
              <a:solidFill>
                <a:srgbClr val="202122"/>
              </a:solidFill>
              <a:latin typeface="Roboto"/>
              <a:ea typeface="Roboto"/>
              <a:cs typeface="Roboto"/>
              <a:sym typeface="Roboto"/>
            </a:endParaRPr>
          </a:p>
        </p:txBody>
      </p:sp>
      <p:pic>
        <p:nvPicPr>
          <p:cNvPr id="82" name="Google Shape;82;p15"/>
          <p:cNvPicPr preferRelativeResize="0"/>
          <p:nvPr/>
        </p:nvPicPr>
        <p:blipFill>
          <a:blip r:embed="rId4">
            <a:alphaModFix/>
          </a:blip>
          <a:stretch>
            <a:fillRect/>
          </a:stretch>
        </p:blipFill>
        <p:spPr>
          <a:xfrm>
            <a:off x="3308575" y="2450801"/>
            <a:ext cx="2394425" cy="184489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id="87" name="Google Shape;87;p16"/>
          <p:cNvPicPr preferRelativeResize="0"/>
          <p:nvPr/>
        </p:nvPicPr>
        <p:blipFill>
          <a:blip r:embed="rId3">
            <a:alphaModFix/>
          </a:blip>
          <a:stretch>
            <a:fillRect/>
          </a:stretch>
        </p:blipFill>
        <p:spPr>
          <a:xfrm>
            <a:off x="4775763" y="1864525"/>
            <a:ext cx="3705225" cy="857250"/>
          </a:xfrm>
          <a:prstGeom prst="rect">
            <a:avLst/>
          </a:prstGeom>
          <a:noFill/>
          <a:ln>
            <a:noFill/>
          </a:ln>
        </p:spPr>
      </p:pic>
      <p:sp>
        <p:nvSpPr>
          <p:cNvPr id="88" name="Google Shape;88;p16"/>
          <p:cNvSpPr txBox="1"/>
          <p:nvPr/>
        </p:nvSpPr>
        <p:spPr>
          <a:xfrm>
            <a:off x="689100" y="384250"/>
            <a:ext cx="38829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800">
                <a:solidFill>
                  <a:srgbClr val="FFFFFF"/>
                </a:solidFill>
                <a:latin typeface="Roboto"/>
                <a:ea typeface="Roboto"/>
                <a:cs typeface="Roboto"/>
                <a:sym typeface="Roboto"/>
              </a:rPr>
              <a:t>Meltdown</a:t>
            </a:r>
            <a:endParaRPr sz="4800">
              <a:solidFill>
                <a:srgbClr val="FFFFFF"/>
              </a:solidFill>
              <a:latin typeface="Roboto"/>
              <a:ea typeface="Roboto"/>
              <a:cs typeface="Roboto"/>
              <a:sym typeface="Roboto"/>
            </a:endParaRPr>
          </a:p>
        </p:txBody>
      </p:sp>
      <p:pic>
        <p:nvPicPr>
          <p:cNvPr id="89" name="Google Shape;89;p16"/>
          <p:cNvPicPr preferRelativeResize="0"/>
          <p:nvPr/>
        </p:nvPicPr>
        <p:blipFill>
          <a:blip r:embed="rId4">
            <a:alphaModFix/>
          </a:blip>
          <a:stretch>
            <a:fillRect/>
          </a:stretch>
        </p:blipFill>
        <p:spPr>
          <a:xfrm>
            <a:off x="4266175" y="2895900"/>
            <a:ext cx="4724400" cy="2200275"/>
          </a:xfrm>
          <a:prstGeom prst="rect">
            <a:avLst/>
          </a:prstGeom>
          <a:noFill/>
          <a:ln>
            <a:noFill/>
          </a:ln>
        </p:spPr>
      </p:pic>
      <p:pic>
        <p:nvPicPr>
          <p:cNvPr id="90" name="Google Shape;90;p16"/>
          <p:cNvPicPr preferRelativeResize="0"/>
          <p:nvPr/>
        </p:nvPicPr>
        <p:blipFill>
          <a:blip r:embed="rId5">
            <a:alphaModFix/>
          </a:blip>
          <a:stretch>
            <a:fillRect/>
          </a:stretch>
        </p:blipFill>
        <p:spPr>
          <a:xfrm>
            <a:off x="3147175" y="3517275"/>
            <a:ext cx="1119000" cy="1119000"/>
          </a:xfrm>
          <a:prstGeom prst="rect">
            <a:avLst/>
          </a:prstGeom>
          <a:noFill/>
          <a:ln>
            <a:noFill/>
          </a:ln>
        </p:spPr>
      </p:pic>
      <p:sp>
        <p:nvSpPr>
          <p:cNvPr id="91" name="Google Shape;91;p16"/>
          <p:cNvSpPr txBox="1"/>
          <p:nvPr/>
        </p:nvSpPr>
        <p:spPr>
          <a:xfrm>
            <a:off x="3147175" y="4636275"/>
            <a:ext cx="1119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2"/>
                </a:solidFill>
                <a:latin typeface="Roboto"/>
                <a:ea typeface="Roboto"/>
                <a:cs typeface="Roboto"/>
                <a:sym typeface="Roboto"/>
              </a:rPr>
              <a:t>503 Kb/s</a:t>
            </a:r>
            <a:endParaRPr sz="1800">
              <a:solidFill>
                <a:schemeClr val="lt2"/>
              </a:solidFill>
              <a:latin typeface="Roboto"/>
              <a:ea typeface="Roboto"/>
              <a:cs typeface="Roboto"/>
              <a:sym typeface="Roboto"/>
            </a:endParaRPr>
          </a:p>
        </p:txBody>
      </p:sp>
      <p:sp>
        <p:nvSpPr>
          <p:cNvPr id="92" name="Google Shape;92;p16"/>
          <p:cNvSpPr txBox="1"/>
          <p:nvPr/>
        </p:nvSpPr>
        <p:spPr>
          <a:xfrm>
            <a:off x="74100" y="1776875"/>
            <a:ext cx="3882900" cy="3170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Roboto"/>
                <a:ea typeface="Roboto"/>
                <a:cs typeface="Roboto"/>
                <a:sym typeface="Roboto"/>
              </a:rPr>
              <a:t>Основной подход:</a:t>
            </a:r>
            <a:endParaRPr sz="1600">
              <a:solidFill>
                <a:schemeClr val="dk1"/>
              </a:solidFill>
              <a:latin typeface="Roboto"/>
              <a:ea typeface="Roboto"/>
              <a:cs typeface="Roboto"/>
              <a:sym typeface="Roboto"/>
            </a:endParaRPr>
          </a:p>
          <a:p>
            <a:pPr indent="0" lvl="0" marL="0" rtl="0" algn="l">
              <a:spcBef>
                <a:spcPts val="0"/>
              </a:spcBef>
              <a:spcAft>
                <a:spcPts val="0"/>
              </a:spcAft>
              <a:buNone/>
            </a:pPr>
            <a:r>
              <a:rPr lang="en" sz="1600">
                <a:solidFill>
                  <a:schemeClr val="dk1"/>
                </a:solidFill>
                <a:latin typeface="Roboto"/>
                <a:ea typeface="Roboto"/>
                <a:cs typeface="Roboto"/>
                <a:sym typeface="Roboto"/>
              </a:rPr>
              <a:t>- Чтение защищенной памяти из RAM</a:t>
            </a:r>
            <a:endParaRPr sz="1600">
              <a:solidFill>
                <a:schemeClr val="dk1"/>
              </a:solidFill>
              <a:latin typeface="Roboto"/>
              <a:ea typeface="Roboto"/>
              <a:cs typeface="Roboto"/>
              <a:sym typeface="Roboto"/>
            </a:endParaRPr>
          </a:p>
          <a:p>
            <a:pPr indent="0" lvl="0" marL="0" rtl="0" algn="l">
              <a:spcBef>
                <a:spcPts val="0"/>
              </a:spcBef>
              <a:spcAft>
                <a:spcPts val="0"/>
              </a:spcAft>
              <a:buNone/>
            </a:pPr>
            <a:r>
              <a:rPr lang="en" sz="1600">
                <a:solidFill>
                  <a:schemeClr val="dk1"/>
                </a:solidFill>
                <a:latin typeface="Roboto"/>
                <a:ea typeface="Roboto"/>
                <a:cs typeface="Roboto"/>
                <a:sym typeface="Roboto"/>
              </a:rPr>
              <a:t>     - приведет к неисправности</a:t>
            </a:r>
            <a:endParaRPr sz="1600">
              <a:solidFill>
                <a:schemeClr val="dk1"/>
              </a:solidFill>
              <a:latin typeface="Roboto"/>
              <a:ea typeface="Roboto"/>
              <a:cs typeface="Roboto"/>
              <a:sym typeface="Roboto"/>
            </a:endParaRPr>
          </a:p>
          <a:p>
            <a:pPr indent="0" lvl="0" marL="0" rtl="0" algn="l">
              <a:spcBef>
                <a:spcPts val="0"/>
              </a:spcBef>
              <a:spcAft>
                <a:spcPts val="0"/>
              </a:spcAft>
              <a:buNone/>
            </a:pPr>
            <a:r>
              <a:rPr lang="en" sz="1600">
                <a:solidFill>
                  <a:schemeClr val="dk1"/>
                </a:solidFill>
                <a:latin typeface="Roboto"/>
                <a:ea typeface="Roboto"/>
                <a:cs typeface="Roboto"/>
                <a:sym typeface="Roboto"/>
              </a:rPr>
              <a:t>     -  ...при возвращении из спекуляции</a:t>
            </a:r>
            <a:endParaRPr sz="1600">
              <a:solidFill>
                <a:schemeClr val="dk1"/>
              </a:solidFill>
              <a:latin typeface="Roboto"/>
              <a:ea typeface="Roboto"/>
              <a:cs typeface="Roboto"/>
              <a:sym typeface="Roboto"/>
            </a:endParaRPr>
          </a:p>
          <a:p>
            <a:pPr indent="0" lvl="0" marL="0" rtl="0" algn="l">
              <a:spcBef>
                <a:spcPts val="0"/>
              </a:spcBef>
              <a:spcAft>
                <a:spcPts val="0"/>
              </a:spcAft>
              <a:buNone/>
            </a:pPr>
            <a:r>
              <a:rPr lang="en" sz="1600">
                <a:solidFill>
                  <a:schemeClr val="dk1"/>
                </a:solidFill>
                <a:latin typeface="Roboto"/>
                <a:ea typeface="Roboto"/>
                <a:cs typeface="Roboto"/>
                <a:sym typeface="Roboto"/>
              </a:rPr>
              <a:t>- Используем значение, чтобы повлиять на кеш</a:t>
            </a:r>
            <a:endParaRPr sz="1600">
              <a:solidFill>
                <a:schemeClr val="dk1"/>
              </a:solidFill>
              <a:latin typeface="Roboto"/>
              <a:ea typeface="Roboto"/>
              <a:cs typeface="Roboto"/>
              <a:sym typeface="Roboto"/>
            </a:endParaRPr>
          </a:p>
          <a:p>
            <a:pPr indent="0" lvl="0" marL="0" rtl="0" algn="l">
              <a:spcBef>
                <a:spcPts val="0"/>
              </a:spcBef>
              <a:spcAft>
                <a:spcPts val="0"/>
              </a:spcAft>
              <a:buNone/>
            </a:pPr>
            <a:r>
              <a:rPr lang="en" sz="1600">
                <a:solidFill>
                  <a:schemeClr val="dk1"/>
                </a:solidFill>
                <a:latin typeface="Roboto"/>
                <a:ea typeface="Roboto"/>
                <a:cs typeface="Roboto"/>
                <a:sym typeface="Roboto"/>
              </a:rPr>
              <a:t>- Обрабататываем ошибку</a:t>
            </a:r>
            <a:endParaRPr sz="1600">
              <a:solidFill>
                <a:schemeClr val="dk1"/>
              </a:solidFill>
              <a:latin typeface="Roboto"/>
              <a:ea typeface="Roboto"/>
              <a:cs typeface="Roboto"/>
              <a:sym typeface="Roboto"/>
            </a:endParaRPr>
          </a:p>
          <a:p>
            <a:pPr indent="0" lvl="0" marL="0" rtl="0" algn="l">
              <a:spcBef>
                <a:spcPts val="0"/>
              </a:spcBef>
              <a:spcAft>
                <a:spcPts val="0"/>
              </a:spcAft>
              <a:buNone/>
            </a:pPr>
            <a:r>
              <a:rPr lang="en" sz="1600">
                <a:solidFill>
                  <a:schemeClr val="dk1"/>
                </a:solidFill>
                <a:latin typeface="Roboto"/>
                <a:ea typeface="Roboto"/>
                <a:cs typeface="Roboto"/>
                <a:sym typeface="Roboto"/>
              </a:rPr>
              <a:t>- Восстанавливаем значение, просматривая состояние кэша</a:t>
            </a:r>
            <a:endParaRPr sz="1600">
              <a:solidFill>
                <a:schemeClr val="dk1"/>
              </a:solidFill>
              <a:latin typeface="Roboto"/>
              <a:ea typeface="Roboto"/>
              <a:cs typeface="Roboto"/>
              <a:sym typeface="Roboto"/>
            </a:endParaRPr>
          </a:p>
          <a:p>
            <a:pPr indent="0" lvl="0" marL="0" rtl="0" algn="l">
              <a:spcBef>
                <a:spcPts val="0"/>
              </a:spcBef>
              <a:spcAft>
                <a:spcPts val="0"/>
              </a:spcAft>
              <a:buNone/>
            </a:pPr>
            <a:r>
              <a:rPr lang="en" sz="1600">
                <a:solidFill>
                  <a:schemeClr val="dk1"/>
                </a:solidFill>
                <a:latin typeface="Roboto"/>
                <a:ea typeface="Roboto"/>
                <a:cs typeface="Roboto"/>
                <a:sym typeface="Roboto"/>
              </a:rPr>
              <a:t>- Profit!</a:t>
            </a:r>
            <a:endParaRPr sz="1600">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p17"/>
          <p:cNvPicPr preferRelativeResize="0"/>
          <p:nvPr/>
        </p:nvPicPr>
        <p:blipFill>
          <a:blip r:embed="rId3">
            <a:alphaModFix/>
          </a:blip>
          <a:stretch>
            <a:fillRect/>
          </a:stretch>
        </p:blipFill>
        <p:spPr>
          <a:xfrm>
            <a:off x="3293775" y="152400"/>
            <a:ext cx="5800641" cy="4838701"/>
          </a:xfrm>
          <a:prstGeom prst="rect">
            <a:avLst/>
          </a:prstGeom>
          <a:noFill/>
          <a:ln>
            <a:noFill/>
          </a:ln>
        </p:spPr>
      </p:pic>
      <p:pic>
        <p:nvPicPr>
          <p:cNvPr id="98" name="Google Shape;98;p17"/>
          <p:cNvPicPr preferRelativeResize="0"/>
          <p:nvPr/>
        </p:nvPicPr>
        <p:blipFill>
          <a:blip r:embed="rId4">
            <a:alphaModFix/>
          </a:blip>
          <a:stretch>
            <a:fillRect/>
          </a:stretch>
        </p:blipFill>
        <p:spPr>
          <a:xfrm>
            <a:off x="206313" y="2323025"/>
            <a:ext cx="2828925" cy="1619250"/>
          </a:xfrm>
          <a:prstGeom prst="rect">
            <a:avLst/>
          </a:prstGeom>
          <a:noFill/>
          <a:ln>
            <a:noFill/>
          </a:ln>
        </p:spPr>
      </p:pic>
      <p:sp>
        <p:nvSpPr>
          <p:cNvPr id="99" name="Google Shape;99;p17"/>
          <p:cNvSpPr txBox="1"/>
          <p:nvPr/>
        </p:nvSpPr>
        <p:spPr>
          <a:xfrm>
            <a:off x="120925" y="599975"/>
            <a:ext cx="2999700" cy="1616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100">
                <a:solidFill>
                  <a:srgbClr val="FFFFFF"/>
                </a:solidFill>
                <a:latin typeface="Roboto"/>
                <a:ea typeface="Roboto"/>
                <a:cs typeface="Roboto"/>
                <a:sym typeface="Roboto"/>
              </a:rPr>
              <a:t>Смягчение последствий для Meltdown</a:t>
            </a:r>
            <a:endParaRPr sz="3100">
              <a:solidFill>
                <a:srgbClr val="FFFFF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nvSpPr>
        <p:spPr>
          <a:xfrm>
            <a:off x="424675" y="431450"/>
            <a:ext cx="38829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800">
                <a:solidFill>
                  <a:srgbClr val="FFFFFF"/>
                </a:solidFill>
                <a:latin typeface="Roboto"/>
                <a:ea typeface="Roboto"/>
                <a:cs typeface="Roboto"/>
                <a:sym typeface="Roboto"/>
              </a:rPr>
              <a:t>Spectre</a:t>
            </a:r>
            <a:endParaRPr sz="4800">
              <a:solidFill>
                <a:srgbClr val="FFFFFF"/>
              </a:solidFill>
              <a:latin typeface="Roboto"/>
              <a:ea typeface="Roboto"/>
              <a:cs typeface="Roboto"/>
              <a:sym typeface="Roboto"/>
            </a:endParaRPr>
          </a:p>
        </p:txBody>
      </p:sp>
      <p:pic>
        <p:nvPicPr>
          <p:cNvPr id="105" name="Google Shape;105;p18"/>
          <p:cNvPicPr preferRelativeResize="0"/>
          <p:nvPr/>
        </p:nvPicPr>
        <p:blipFill>
          <a:blip r:embed="rId3">
            <a:alphaModFix/>
          </a:blip>
          <a:stretch>
            <a:fillRect/>
          </a:stretch>
        </p:blipFill>
        <p:spPr>
          <a:xfrm>
            <a:off x="51275" y="1702725"/>
            <a:ext cx="7124700" cy="3390900"/>
          </a:xfrm>
          <a:prstGeom prst="rect">
            <a:avLst/>
          </a:prstGeom>
          <a:noFill/>
          <a:ln>
            <a:noFill/>
          </a:ln>
        </p:spPr>
      </p:pic>
      <p:sp>
        <p:nvSpPr>
          <p:cNvPr id="106" name="Google Shape;106;p18"/>
          <p:cNvSpPr txBox="1"/>
          <p:nvPr/>
        </p:nvSpPr>
        <p:spPr>
          <a:xfrm>
            <a:off x="282625" y="1974900"/>
            <a:ext cx="41670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1) </a:t>
            </a:r>
            <a:r>
              <a:rPr lang="en" sz="1800">
                <a:solidFill>
                  <a:schemeClr val="dk1"/>
                </a:solidFill>
                <a:latin typeface="Roboto"/>
                <a:ea typeface="Roboto"/>
                <a:cs typeface="Roboto"/>
                <a:sym typeface="Roboto"/>
              </a:rPr>
              <a:t>Проверка безопасности обходного пути:</a:t>
            </a:r>
            <a:endParaRPr sz="1800">
              <a:solidFill>
                <a:schemeClr val="dk1"/>
              </a:solidFill>
              <a:latin typeface="Roboto"/>
              <a:ea typeface="Roboto"/>
              <a:cs typeface="Roboto"/>
              <a:sym typeface="Roboto"/>
            </a:endParaRPr>
          </a:p>
          <a:p>
            <a:pPr indent="0" lvl="0" marL="0" rtl="0" algn="l">
              <a:spcBef>
                <a:spcPts val="0"/>
              </a:spcBef>
              <a:spcAft>
                <a:spcPts val="0"/>
              </a:spcAft>
              <a:buNone/>
            </a:pPr>
            <a:r>
              <a:rPr lang="en" sz="1800">
                <a:solidFill>
                  <a:schemeClr val="dk1"/>
                </a:solidFill>
                <a:latin typeface="Roboto"/>
                <a:ea typeface="Roboto"/>
                <a:cs typeface="Roboto"/>
                <a:sym typeface="Roboto"/>
              </a:rPr>
              <a:t> Натренировать предсказатель ветки</a:t>
            </a:r>
            <a:endParaRPr sz="1800">
              <a:solidFill>
                <a:schemeClr val="dk1"/>
              </a:solidFill>
              <a:latin typeface="Roboto"/>
              <a:ea typeface="Roboto"/>
              <a:cs typeface="Roboto"/>
              <a:sym typeface="Roboto"/>
            </a:endParaRPr>
          </a:p>
          <a:p>
            <a:pPr indent="0" lvl="0" marL="0" rtl="0" algn="l">
              <a:spcBef>
                <a:spcPts val="0"/>
              </a:spcBef>
              <a:spcAft>
                <a:spcPts val="0"/>
              </a:spcAft>
              <a:buNone/>
            </a:pPr>
            <a:r>
              <a:rPr lang="en" sz="1800">
                <a:solidFill>
                  <a:schemeClr val="dk1"/>
                </a:solidFill>
                <a:latin typeface="Roboto"/>
                <a:ea typeface="Roboto"/>
                <a:cs typeface="Roboto"/>
                <a:sym typeface="Roboto"/>
              </a:rPr>
              <a:t> Очистить arraySize из кэша</a:t>
            </a:r>
            <a:endParaRPr sz="1800">
              <a:solidFill>
                <a:schemeClr val="dk1"/>
              </a:solidFill>
              <a:latin typeface="Roboto"/>
              <a:ea typeface="Roboto"/>
              <a:cs typeface="Roboto"/>
              <a:sym typeface="Roboto"/>
            </a:endParaRPr>
          </a:p>
          <a:p>
            <a:pPr indent="0" lvl="0" marL="0" rtl="0" algn="l">
              <a:spcBef>
                <a:spcPts val="0"/>
              </a:spcBef>
              <a:spcAft>
                <a:spcPts val="0"/>
              </a:spcAft>
              <a:buNone/>
            </a:pPr>
            <a:r>
              <a:rPr lang="en" sz="1800">
                <a:solidFill>
                  <a:schemeClr val="dk1"/>
                </a:solidFill>
                <a:latin typeface="Roboto"/>
                <a:ea typeface="Roboto"/>
                <a:cs typeface="Roboto"/>
                <a:sym typeface="Roboto"/>
              </a:rPr>
              <a:t> Вызов чтения с выходящим за пределы индексом</a:t>
            </a:r>
            <a:endParaRPr sz="1800">
              <a:solidFill>
                <a:schemeClr val="dk1"/>
              </a:solidFill>
              <a:latin typeface="Roboto"/>
              <a:ea typeface="Roboto"/>
              <a:cs typeface="Roboto"/>
              <a:sym typeface="Roboto"/>
            </a:endParaRPr>
          </a:p>
          <a:p>
            <a:pPr indent="0" lvl="0" marL="0" rtl="0" algn="l">
              <a:spcBef>
                <a:spcPts val="0"/>
              </a:spcBef>
              <a:spcAft>
                <a:spcPts val="0"/>
              </a:spcAft>
              <a:buNone/>
            </a:pPr>
            <a:r>
              <a:rPr lang="en" sz="1800">
                <a:solidFill>
                  <a:schemeClr val="dk1"/>
                </a:solidFill>
                <a:latin typeface="Roboto"/>
                <a:ea typeface="Roboto"/>
                <a:cs typeface="Roboto"/>
                <a:sym typeface="Roboto"/>
              </a:rPr>
              <a:t> Использовать результат для воздействия на кеш</a:t>
            </a:r>
            <a:endParaRPr sz="1800">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p:txBody>
      </p:sp>
      <p:sp>
        <p:nvSpPr>
          <p:cNvPr id="107" name="Google Shape;107;p18"/>
          <p:cNvSpPr txBox="1"/>
          <p:nvPr/>
        </p:nvSpPr>
        <p:spPr>
          <a:xfrm>
            <a:off x="4037975" y="1643475"/>
            <a:ext cx="4988400" cy="350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2) MISTRAIN BTB</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Определение места для внедрения ошибочного предсказания.</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Тренировка BTB: </a:t>
            </a:r>
            <a:r>
              <a:rPr lang="en" sz="1800">
                <a:solidFill>
                  <a:schemeClr val="dk1"/>
                </a:solidFill>
                <a:latin typeface="Roboto"/>
                <a:ea typeface="Roboto"/>
                <a:cs typeface="Roboto"/>
                <a:sym typeface="Roboto"/>
              </a:rPr>
              <a:t>"Если видим косвенный переход, предсказываем 0x4578".</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Код по адресу 0x4578 влияет на состояние кэша.</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"Гаджет" использует данные, зависящие от защищённого состояния.</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Исполнение кода в контексте ядра.</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Profit!</a:t>
            </a:r>
            <a:endParaRPr sz="1800">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06"/>
                                        </p:tgtEl>
                                      </p:cBhvr>
                                    </p:animEffect>
                                    <p:set>
                                      <p:cBhvr>
                                        <p:cTn dur="1" fill="hold">
                                          <p:stCondLst>
                                            <p:cond delay="1000"/>
                                          </p:stCondLst>
                                        </p:cTn>
                                        <p:tgtEl>
                                          <p:spTgt spid="10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05"/>
                                        </p:tgtEl>
                                        <p:attrNameLst>
                                          <p:attrName>style.visibility</p:attrName>
                                        </p:attrNameLst>
                                      </p:cBhvr>
                                      <p:to>
                                        <p:strVal val="visible"/>
                                      </p:to>
                                    </p:set>
                                    <p:animEffect filter="fade" transition="in">
                                      <p:cBhvr>
                                        <p:cTn dur="1000"/>
                                        <p:tgtEl>
                                          <p:spTgt spid="1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05"/>
                                        </p:tgtEl>
                                      </p:cBhvr>
                                    </p:animEffect>
                                    <p:set>
                                      <p:cBhvr>
                                        <p:cTn dur="1" fill="hold">
                                          <p:stCondLst>
                                            <p:cond delay="1000"/>
                                          </p:stCondLst>
                                        </p:cTn>
                                        <p:tgtEl>
                                          <p:spTgt spid="10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07"/>
                                        </p:tgtEl>
                                        <p:attrNameLst>
                                          <p:attrName>style.visibility</p:attrName>
                                        </p:attrNameLst>
                                      </p:cBhvr>
                                      <p:to>
                                        <p:strVal val="visible"/>
                                      </p:to>
                                    </p:set>
                                    <p:animEffect filter="fade" transition="in">
                                      <p:cBhvr>
                                        <p:cTn dur="1000"/>
                                        <p:tgtEl>
                                          <p:spTgt spid="107"/>
                                        </p:tgtEl>
                                      </p:cBhvr>
                                    </p:animEffect>
                                  </p:childTnLst>
                                </p:cTn>
                              </p:par>
                              <p:par>
                                <p:cTn fill="hold" nodeType="withEffect" presetClass="entr" presetID="10" presetSubtype="0">
                                  <p:stCondLst>
                                    <p:cond delay="0"/>
                                  </p:stCondLst>
                                  <p:childTnLst>
                                    <p:set>
                                      <p:cBhvr>
                                        <p:cTn dur="1" fill="hold">
                                          <p:stCondLst>
                                            <p:cond delay="0"/>
                                          </p:stCondLst>
                                        </p:cTn>
                                        <p:tgtEl>
                                          <p:spTgt spid="106"/>
                                        </p:tgtEl>
                                        <p:attrNameLst>
                                          <p:attrName>style.visibility</p:attrName>
                                        </p:attrNameLst>
                                      </p:cBhvr>
                                      <p:to>
                                        <p:strVal val="visible"/>
                                      </p:to>
                                    </p:set>
                                    <p:animEffect filter="fade" transition="in">
                                      <p:cBhvr>
                                        <p:cTn dur="1000"/>
                                        <p:tgtEl>
                                          <p:spTgt spid="1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9"/>
          <p:cNvSpPr/>
          <p:nvPr/>
        </p:nvSpPr>
        <p:spPr>
          <a:xfrm>
            <a:off x="5457050" y="2165400"/>
            <a:ext cx="1528800" cy="647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3" name="Google Shape;113;p19"/>
          <p:cNvSpPr txBox="1"/>
          <p:nvPr/>
        </p:nvSpPr>
        <p:spPr>
          <a:xfrm>
            <a:off x="0" y="0"/>
            <a:ext cx="68625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800">
                <a:solidFill>
                  <a:schemeClr val="lt1"/>
                </a:solidFill>
                <a:latin typeface="Roboto"/>
                <a:ea typeface="Roboto"/>
                <a:cs typeface="Roboto"/>
                <a:sym typeface="Roboto"/>
              </a:rPr>
              <a:t>Смягчение последствий Spectre</a:t>
            </a:r>
            <a:endParaRPr sz="4800">
              <a:solidFill>
                <a:schemeClr val="lt1"/>
              </a:solidFill>
              <a:latin typeface="Roboto"/>
              <a:ea typeface="Roboto"/>
              <a:cs typeface="Roboto"/>
              <a:sym typeface="Roboto"/>
            </a:endParaRPr>
          </a:p>
        </p:txBody>
      </p:sp>
      <p:sp>
        <p:nvSpPr>
          <p:cNvPr id="114" name="Google Shape;114;p19"/>
          <p:cNvSpPr/>
          <p:nvPr/>
        </p:nvSpPr>
        <p:spPr>
          <a:xfrm>
            <a:off x="1518200" y="3920700"/>
            <a:ext cx="1528800" cy="647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5" name="Google Shape;115;p19"/>
          <p:cNvSpPr/>
          <p:nvPr/>
        </p:nvSpPr>
        <p:spPr>
          <a:xfrm>
            <a:off x="1518200" y="2165400"/>
            <a:ext cx="1528800" cy="647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6" name="Google Shape;116;p19"/>
          <p:cNvSpPr txBox="1"/>
          <p:nvPr/>
        </p:nvSpPr>
        <p:spPr>
          <a:xfrm>
            <a:off x="1776950" y="2258100"/>
            <a:ext cx="10113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Roboto"/>
                <a:ea typeface="Roboto"/>
                <a:cs typeface="Roboto"/>
                <a:sym typeface="Roboto"/>
              </a:rPr>
              <a:t>LFENCE</a:t>
            </a:r>
            <a:endParaRPr sz="1800">
              <a:solidFill>
                <a:schemeClr val="dk1"/>
              </a:solidFill>
              <a:latin typeface="Roboto"/>
              <a:ea typeface="Roboto"/>
              <a:cs typeface="Roboto"/>
              <a:sym typeface="Roboto"/>
            </a:endParaRPr>
          </a:p>
        </p:txBody>
      </p:sp>
      <p:sp>
        <p:nvSpPr>
          <p:cNvPr id="117" name="Google Shape;117;p19"/>
          <p:cNvSpPr txBox="1"/>
          <p:nvPr/>
        </p:nvSpPr>
        <p:spPr>
          <a:xfrm>
            <a:off x="1681250" y="4013400"/>
            <a:ext cx="1202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Roboto"/>
                <a:ea typeface="Roboto"/>
                <a:cs typeface="Roboto"/>
                <a:sym typeface="Roboto"/>
              </a:rPr>
              <a:t>Retpoline</a:t>
            </a:r>
            <a:endParaRPr sz="1800">
              <a:solidFill>
                <a:schemeClr val="dk1"/>
              </a:solidFill>
              <a:latin typeface="Roboto"/>
              <a:ea typeface="Roboto"/>
              <a:cs typeface="Roboto"/>
              <a:sym typeface="Roboto"/>
            </a:endParaRPr>
          </a:p>
        </p:txBody>
      </p:sp>
      <p:sp>
        <p:nvSpPr>
          <p:cNvPr id="118" name="Google Shape;118;p19"/>
          <p:cNvSpPr txBox="1"/>
          <p:nvPr/>
        </p:nvSpPr>
        <p:spPr>
          <a:xfrm>
            <a:off x="5388350" y="2258100"/>
            <a:ext cx="1666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rPr>
              <a:t>μCode update</a:t>
            </a:r>
            <a:endParaRPr sz="1800">
              <a:solidFill>
                <a:schemeClr val="dk1"/>
              </a:solidFill>
              <a:latin typeface="Roboto"/>
              <a:ea typeface="Roboto"/>
              <a:cs typeface="Roboto"/>
              <a:sym typeface="Roboto"/>
            </a:endParaRPr>
          </a:p>
        </p:txBody>
      </p:sp>
      <p:sp>
        <p:nvSpPr>
          <p:cNvPr id="119" name="Google Shape;119;p19"/>
          <p:cNvSpPr/>
          <p:nvPr/>
        </p:nvSpPr>
        <p:spPr>
          <a:xfrm>
            <a:off x="5457050" y="3920700"/>
            <a:ext cx="1528800" cy="647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0" name="Google Shape;120;p19"/>
          <p:cNvSpPr txBox="1"/>
          <p:nvPr/>
        </p:nvSpPr>
        <p:spPr>
          <a:xfrm>
            <a:off x="5481650" y="4013400"/>
            <a:ext cx="1479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rPr>
              <a:t>Патчи ядра</a:t>
            </a:r>
            <a:endParaRPr sz="1800">
              <a:solidFill>
                <a:schemeClr val="dk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20"/>
          <p:cNvPicPr preferRelativeResize="0"/>
          <p:nvPr/>
        </p:nvPicPr>
        <p:blipFill>
          <a:blip r:embed="rId3">
            <a:alphaModFix/>
          </a:blip>
          <a:stretch>
            <a:fillRect/>
          </a:stretch>
        </p:blipFill>
        <p:spPr>
          <a:xfrm>
            <a:off x="4903924" y="615550"/>
            <a:ext cx="3912401" cy="3912401"/>
          </a:xfrm>
          <a:prstGeom prst="rect">
            <a:avLst/>
          </a:prstGeom>
          <a:noFill/>
          <a:ln>
            <a:noFill/>
          </a:ln>
        </p:spPr>
      </p:pic>
      <p:pic>
        <p:nvPicPr>
          <p:cNvPr id="126" name="Google Shape;126;p20"/>
          <p:cNvPicPr preferRelativeResize="0"/>
          <p:nvPr/>
        </p:nvPicPr>
        <p:blipFill>
          <a:blip r:embed="rId4">
            <a:alphaModFix/>
          </a:blip>
          <a:stretch>
            <a:fillRect/>
          </a:stretch>
        </p:blipFill>
        <p:spPr>
          <a:xfrm>
            <a:off x="0" y="2516975"/>
            <a:ext cx="4572000" cy="2626525"/>
          </a:xfrm>
          <a:prstGeom prst="rect">
            <a:avLst/>
          </a:prstGeom>
          <a:noFill/>
          <a:ln>
            <a:noFill/>
          </a:ln>
        </p:spPr>
      </p:pic>
      <p:sp>
        <p:nvSpPr>
          <p:cNvPr id="127" name="Google Shape;127;p20"/>
          <p:cNvSpPr txBox="1"/>
          <p:nvPr/>
        </p:nvSpPr>
        <p:spPr>
          <a:xfrm>
            <a:off x="344550" y="869600"/>
            <a:ext cx="3882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2"/>
                </a:solidFill>
                <a:latin typeface="Roboto"/>
                <a:ea typeface="Roboto"/>
                <a:cs typeface="Roboto"/>
                <a:sym typeface="Roboto"/>
              </a:rPr>
              <a:t>Отличительные особенности уязвимостей Spectre и Meltdown</a:t>
            </a:r>
            <a:endParaRPr sz="1800">
              <a:solidFill>
                <a:schemeClr val="lt2"/>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1"/>
          <p:cNvSpPr txBox="1"/>
          <p:nvPr/>
        </p:nvSpPr>
        <p:spPr>
          <a:xfrm>
            <a:off x="5261100" y="3234900"/>
            <a:ext cx="38829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2"/>
                </a:solidFill>
                <a:latin typeface="Roboto"/>
                <a:ea typeface="Roboto"/>
                <a:cs typeface="Roboto"/>
                <a:sym typeface="Roboto"/>
              </a:rPr>
              <a:t>Источники:</a:t>
            </a:r>
            <a:endParaRPr sz="1800">
              <a:solidFill>
                <a:schemeClr val="lt2"/>
              </a:solidFill>
              <a:latin typeface="Roboto"/>
              <a:ea typeface="Roboto"/>
              <a:cs typeface="Roboto"/>
              <a:sym typeface="Roboto"/>
            </a:endParaRPr>
          </a:p>
          <a:p>
            <a:pPr indent="-298450" lvl="0" marL="457200" rtl="0" algn="l">
              <a:lnSpc>
                <a:spcPct val="7840"/>
              </a:lnSpc>
              <a:spcBef>
                <a:spcPts val="1200"/>
              </a:spcBef>
              <a:spcAft>
                <a:spcPts val="0"/>
              </a:spcAft>
              <a:buSzPts val="1100"/>
              <a:buChar char="-"/>
            </a:pPr>
            <a:r>
              <a:rPr lang="en" sz="1100" u="sng">
                <a:solidFill>
                  <a:srgbClr val="000080"/>
                </a:solidFill>
                <a:hlinkClick r:id="rId3">
                  <a:extLst>
                    <a:ext uri="{A12FA001-AC4F-418D-AE19-62706E023703}">
                      <ahyp:hlinkClr val="tx"/>
                    </a:ext>
                  </a:extLst>
                </a:hlinkClick>
              </a:rPr>
              <a:t>https://meltdownattack.com/</a:t>
            </a:r>
            <a:endParaRPr sz="1100" u="sng">
              <a:solidFill>
                <a:srgbClr val="000080"/>
              </a:solidFill>
            </a:endParaRPr>
          </a:p>
          <a:p>
            <a:pPr indent="-298450" lvl="0" marL="457200" rtl="0" algn="l">
              <a:lnSpc>
                <a:spcPct val="7840"/>
              </a:lnSpc>
              <a:spcBef>
                <a:spcPts val="0"/>
              </a:spcBef>
              <a:spcAft>
                <a:spcPts val="0"/>
              </a:spcAft>
              <a:buSzPts val="1100"/>
              <a:buChar char="-"/>
            </a:pPr>
            <a:r>
              <a:rPr lang="en" sz="1100" u="sng">
                <a:solidFill>
                  <a:srgbClr val="000080"/>
                </a:solidFill>
                <a:hlinkClick r:id="rId4">
                  <a:extLst>
                    <a:ext uri="{A12FA001-AC4F-418D-AE19-62706E023703}">
                      <ahyp:hlinkClr val="tx"/>
                    </a:ext>
                  </a:extLst>
                </a:hlinkClick>
              </a:rPr>
              <a:t>https://spectreattack.com/</a:t>
            </a:r>
            <a:endParaRPr sz="1100" u="sng">
              <a:solidFill>
                <a:srgbClr val="000080"/>
              </a:solidFill>
            </a:endParaRPr>
          </a:p>
          <a:p>
            <a:pPr indent="-298450" lvl="0" marL="457200" rtl="0" algn="l">
              <a:lnSpc>
                <a:spcPct val="7840"/>
              </a:lnSpc>
              <a:spcBef>
                <a:spcPts val="0"/>
              </a:spcBef>
              <a:spcAft>
                <a:spcPts val="0"/>
              </a:spcAft>
              <a:buSzPts val="1100"/>
              <a:buChar char="-"/>
            </a:pPr>
            <a:r>
              <a:rPr lang="en" sz="1100" u="sng">
                <a:solidFill>
                  <a:srgbClr val="000080"/>
                </a:solidFill>
                <a:hlinkClick r:id="rId5">
                  <a:extLst>
                    <a:ext uri="{A12FA001-AC4F-418D-AE19-62706E023703}">
                      <ahyp:hlinkClr val="tx"/>
                    </a:ext>
                  </a:extLst>
                </a:hlinkClick>
              </a:rPr>
              <a:t>https://www.intel.com/content/www/us/en/security-center/advisory/intel-sa-00088.html</a:t>
            </a:r>
            <a:endParaRPr sz="1100" u="sng">
              <a:solidFill>
                <a:srgbClr val="000080"/>
              </a:solidFill>
            </a:endParaRPr>
          </a:p>
          <a:p>
            <a:pPr indent="-298450" lvl="0" marL="457200" rtl="0" algn="l">
              <a:lnSpc>
                <a:spcPct val="7840"/>
              </a:lnSpc>
              <a:spcBef>
                <a:spcPts val="0"/>
              </a:spcBef>
              <a:spcAft>
                <a:spcPts val="0"/>
              </a:spcAft>
              <a:buSzPts val="1100"/>
              <a:buChar char="-"/>
            </a:pPr>
            <a:r>
              <a:rPr lang="en" sz="1100" u="sng">
                <a:solidFill>
                  <a:srgbClr val="000080"/>
                </a:solidFill>
                <a:hlinkClick r:id="rId6">
                  <a:extLst>
                    <a:ext uri="{A12FA001-AC4F-418D-AE19-62706E023703}">
                      <ahyp:hlinkClr val="tx"/>
                    </a:ext>
                  </a:extLst>
                </a:hlinkClick>
              </a:rPr>
              <a:t>https://www.kernel.org/doc/html/latest/admin-guide/hw-vuln/spectre.html</a:t>
            </a:r>
            <a:endParaRPr sz="1100" u="sng">
              <a:solidFill>
                <a:srgbClr val="000080"/>
              </a:solidFill>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2"/>
          <p:cNvSpPr txBox="1"/>
          <p:nvPr>
            <p:ph type="title"/>
          </p:nvPr>
        </p:nvSpPr>
        <p:spPr>
          <a:xfrm>
            <a:off x="226078" y="357800"/>
            <a:ext cx="2808000" cy="953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000"/>
              <a:t>Вопрос для экзамена</a:t>
            </a:r>
            <a:endParaRPr sz="3000"/>
          </a:p>
        </p:txBody>
      </p:sp>
      <p:sp>
        <p:nvSpPr>
          <p:cNvPr id="138" name="Google Shape;138;p22"/>
          <p:cNvSpPr txBox="1"/>
          <p:nvPr>
            <p:ph idx="1" type="body"/>
          </p:nvPr>
        </p:nvSpPr>
        <p:spPr>
          <a:xfrm>
            <a:off x="226075" y="1465800"/>
            <a:ext cx="2808000" cy="3163500"/>
          </a:xfrm>
          <a:prstGeom prst="rect">
            <a:avLst/>
          </a:prstGeom>
        </p:spPr>
        <p:txBody>
          <a:bodyPr anchorCtr="0" anchor="t" bIns="91425" lIns="91425" spcFirstLastPara="1" rIns="91425" wrap="square" tIns="91425">
            <a:noAutofit/>
          </a:bodyPr>
          <a:lstStyle/>
          <a:p>
            <a:pPr indent="0" lvl="0" marL="0" rtl="0" algn="l">
              <a:lnSpc>
                <a:spcPct val="7840"/>
              </a:lnSpc>
              <a:spcBef>
                <a:spcPts val="1200"/>
              </a:spcBef>
              <a:spcAft>
                <a:spcPts val="0"/>
              </a:spcAft>
              <a:buNone/>
            </a:pPr>
            <a:r>
              <a:rPr lang="en" sz="1400"/>
              <a:t>Опишите одну технику смягчения последствий для Meltdown или для Spectre, реализованную в современных ОС. Как эта техника влияет на производительность?</a:t>
            </a:r>
            <a:endParaRPr sz="1400"/>
          </a:p>
          <a:p>
            <a:pPr indent="0" lvl="0" marL="0" rtl="0" algn="l">
              <a:spcBef>
                <a:spcPts val="0"/>
              </a:spcBef>
              <a:spcAft>
                <a:spcPts val="0"/>
              </a:spcAft>
              <a:buNone/>
            </a:pPr>
            <a:r>
              <a:t/>
            </a:r>
            <a:endParaRPr sz="1400"/>
          </a:p>
        </p:txBody>
      </p:sp>
      <p:pic>
        <p:nvPicPr>
          <p:cNvPr id="139" name="Google Shape;139;p22"/>
          <p:cNvPicPr preferRelativeResize="0"/>
          <p:nvPr/>
        </p:nvPicPr>
        <p:blipFill>
          <a:blip r:embed="rId3">
            <a:alphaModFix/>
          </a:blip>
          <a:stretch>
            <a:fillRect/>
          </a:stretch>
        </p:blipFill>
        <p:spPr>
          <a:xfrm>
            <a:off x="3296418" y="0"/>
            <a:ext cx="5834099" cy="514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